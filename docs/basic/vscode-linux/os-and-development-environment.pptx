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9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55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大家好，我是刘昕雨。今天这一讲我们来聊「操作系统与开发环境」。这个名字听起来很大，其实目标很朴素：回答一个问题——我们写下的代码，到底是怎么在电脑上跑起来的？围绕这个问题，我们会认识 Linux，学会在 Windows 上通过 WSL 使用它，学会用 SSH 连接实验室的服务器，最后用 VS Code 完整地跑通一个 C/C++ 项目。这些工具会伴随大家接下来几年的作业、项目和科研，值得花一节课彻底搞清楚。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本讲分四个部分。第一部分讲操作系统的基础概念：进程、内存、文件，以及内核、终端和 Shell 的关系——这是理解一切的地基。第二部分上手 Linux：在 Windows 上安装 WSL，练习文件管理、权限、管道与重定向这些高频操作。第三部分讲远程开发：配置 SSH 免密登录，用 VS Code 的 Remote 扩展操作远端服务器。第四部分是实战：从 gcc 编译到 CMake 构建，再到断点调试，完整跑通一个 C/C++ 小项目。四个部分环环相扣，主线就是一个贯穿始终的小项目。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首先来聊一个大家最感兴趣的话题：Coding Agent，会自己动手的 AI 程序员。它和普通的 AI 补全不一样：补全式 AI 是你写一句它猜一句，一次只帮一句；而 Agent 是你说清需求，它自己规划步骤、读代码库、改文件、跑命令、看结果，验证不通过还会回到上一步继续调整，直到任务完成。看上面这条循环：接收任务、探索理解、动手修改、运行验证，转一圈不行就再转一圈。那市面上主流的 Coding Agent 都有哪些？我们下一页分类盘一盘。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看一圈主流产品，按形态可以分成三类。第一类是终端 CLI 型，代表是 Anthropic 的 Claude Code、OpenAI 的 Codex CLI 和 Google 的 Gemini CLI——它们直接跑在你的命令行里，读写文件、执行命令，和本课的环境最贴近，课程演示也以这类为主。第二类是独立 IDE 型，比如 Cursor 和 Windsurf，整个编辑器围绕 AI 重造，对话、补全、重构一体。第三类是编辑器插件型，像 GitHub Copilot、阿里的通义灵码、腾讯的 CodeBuddy，装进现有的 VS Code 或 JetBrains，开发习惯完全不用换。要注意，三类形态正在融合：Claude Code 也有了 IDE 插件，Copilot 也推出了 CLI 模式。它们的共同点是：最终都要通过终端命令、文件读写和编译工具链来干活——这正是本课要打的地基。环境越熟，Agent 就越听你的话。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先看这张分层图。最下面是硬件——CPU、内存、磁盘、网卡；最上面是应用程序——浏览器、VS Code，以及你写的程序。夹在中间的就是操作系统内核。应用不能直接碰硬件：你想读文件、想联网，都要通过系统调用，请内核代劳。比如 printf 最终会变成 write 系统调用，由内核把数据写到屏幕上。所以我们说操作系统是「资源管家」：向上提供服务，向下管理资源。右边三个关键点：一是内核态与用户态的特权级隔离，应用越不了权；二是每个进程地址空间独立，互相干扰不了；三是 Linux 的「一切皆文件」——设备、管道、目录都被抽象成文件，接口统一。这是后面所有命令操作的基石。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内核日常管理三样东西。第一是进程：程序跑起来就是一个进程，敲 ps 或 top 能看到所有进程。注意区分：进程是「运行中的程序」，程序躺在磁盘上时只是个文件。第二是内存：内核给每个进程一套虚拟地址空间，A 进程根本看不到 B 进程的内存，既安全又省心；物理内存不够时，内核会把不常用的数据换到磁盘上，也就是 swap。第三是文件：Linux 里一切皆文件，普通文件是文件，键盘、网卡、管道也都被当成文件来操作。这三件事分别可以用屏幕上的 ps、free、ls 三个命令直观感受，大家课后亲手敲一遍。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很多同学分不清终端和 Shell，看这条命令的旅程就明白了。你在键盘上敲下 ls -l，首先接到它的是终端——它只是个「窗口」，负责收字符、显字符；然后字符交给 Shell，比如 bash——它才是「翻译官」，解析这行命令，发现你要列目录，于是通过系统调用请内核去磁盘上读目录项；内核把结果交回来，Shell 再交给终端显示出来。所以一句话总结：终端是窗口，Shell 是翻译官，内核是干活的人。Shell 除了交互执行命令，还能写脚本自动化。bash 是 Linux 的默认选择，macOS 现在默认 zsh，Windows 上是 PowerShell，我们课程环境统一用 bash。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三大桌面系统怎么选？Windows 生态最广、软件最多，办公游戏首选，底层是闭源的 NT 内核；macOS 界面精致，底层 XNU 是类 Unix，自带终端就能干很多活；Ubuntu 是最流行的 Linux 发行版，服务器领域的绝对主力，apt 一条命令装软件。对我们课程来说有个好消息：你不需要为此换电脑。作业和实验以 Linux 环境为准，Windows 用户装个 WSL，macOS 用户打开自带终端，都能获得几乎一致的开发体验。后面所有演示，两种环境我都会照顾到。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WSL 全称 Windows Subsystem for Linux，原理看这张图：电脑还是那台电脑，但 Windows 里面跑了一个轻量级虚拟机，虚拟机里是微软官方维护的、真正的 Linux 内核，上面是完整的 Ubuntu 用户态——bash、apt、gcc、cmake 全都有。两个世界的打通做得非常好：Windows 能通过 \\wsl$ 访问 Linux 的文件，Linux 能通过 /mnt/c 访问 Windows 的盘，剪贴板也是共享的。也就是说，你不用装双系统、不用分区、不用重启，就能获得一个接近原生的 Linux 环境。macOS 同学不需要 WSL，系统自带的终端本身就是类 Unix 环境，本讲的命令大多可以直接用。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装 WSL 有两种方法，先看推荐的命令行方式，只要一条命令。第一步，以管理员身份打开 PowerShell，执行 wsl --install，它会自动启用虚拟化组件、下载 Ubuntu，装完需要重启一次电脑。第二步，重启后首次进入 Ubuntu，设置用户名和密码——提醒一下，这个密码是 sudo 提权用的，输入时屏幕上不显示任何字符，不是卡住了。第三步，装工具链：先 apt update 刷新软件源，然后一条命令把 build-essential、gdb、cmake、git 全部装上。第四步，在项目目录里敲 code .，VS Code 会自动装好 WSL 扩展并连接进来。如果这条命令在你的电脑上出了问题，别急，下一页还有 Microsoft Store 的图形界面安装法，殊途同归。我们现场把这一种跑一遍。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方法二走图形界面，同样四步，特别适合命令行报错、或者喜欢可视化的同学。第一步，先启用 Windows 功能：打开控制面板，进入「程序」，点「启用或关闭 Windows 功能」，勾选「适用于 Linux 的 Windows 子系统」和「虚拟机平台」两项，确定之后重启电脑；这一步也可以用屏幕下方这两条 dism 命令代替，效果一样。第二步，打开 Microsoft Store，就是任务栏上的应用商店，搜索 Ubuntu 24.04 LTS，点「获取」，像装普通应用一样等它装完。第三步，从开始菜单启动 Ubuntu，设置用户名和密码。第四步，建议敲一条 wsl --update 把 WSL 内核更新到最新，再用 wsl -l -v 检查，能看到 Ubuntu-24.04 就大功告成了。两种方法装出来的环境完全一样，选你顺手的那种即可。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Linux 的文件系统和 Windows 思路完全不同：没有 C 盘 D 盘，只有一棵从根 / 开始的树。看左边 tree 的输出：/home 存放用户的家目录，你的就是 /home/vince，简写成 ~，登录之后就在这里；/etc 放系统配置，/usr 放软件和头文件，/var 放日志，/tmp 放临时文件。路径有两种写法：以 / 开头的是绝对路径；相对于当前位置的是相对路径，. 是当前目录，.. 是上一级。右下角对比了同一个文件在两个系统里的写法。还有两个实用细节：Linux 文件名大小写敏感，Note.txt 和 note.txt 是两个不同的文件；WSL 里 Windows 的 C 盘挂在 /mnt/c 下，互相拷文件非常方便。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日常用得最多的就是这几个命令。ls 列目录，加 -lh 人类可读；cd 切目录，cd ~ 一秒回家；cp 复制，加 -r 复制整个目录；mv 移动，顺便就是重命名；mkdir -p 一次建多层目录；最后是 rm——这里要敲黑板了：Linux 没有回收站，rm 下去就是永久删除，rm -rf 更是大杀器，执行前一定、一定要看清路径。右边现场演示一遍：建目录、拷文件、重命名、查看属性。就这六个命令，占日常操作的八九成，建议大家现在就开个终端跟着敲。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ls -l 输出的第一列就是权限，把它拆开看。第一个字符是类型：d 是目录，- 是普通文件。后面九个字符每三个一组，分别对应所有者、所属组和其他人，每组是 rwx 的组合——r 读、w 写、x 执行，对目录来说 x 表示能否进入。例子里的 rw-r--r-- 意思是：我自己能读写，同组和其他人只能读。改权限用 chmod，两种写法：字母法，比如 chmod +x run.sh 给所有人加执行权限，chmod g-w 去掉组的写权限；数字法，把 r、w、x 算成 4、2、1 再相加，644 就是 rw- r-- r--。以后遇到 Permission denied，第一反应就应该是：是不是权限问题？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 Linux 的精髓。每个命令默认有三个数据流：stdin 标准输入、stdout 标准输出、stderr 标准错误。竖线 | 叫管道，作用是把左边命令的输出，直接接到右边命令的输入。看上面这条流水线：cat 吐出整个日志，grep 过滤出含 404 的行，wc -l 数出行数——三个只做一件小事的命令，拼出了「统计 404 次数」这个完整功能，答案 42。箭头是重定向：大于号把输出写进文件，会覆盖原内容；双大于号是追加；小于号把文件当输入；2&gt; 专门收集错误信息，把编译报错存到文件里就很实用。这就是 Unix 哲学：每个程序只做好一件事，组合起来威力无穷。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做项目、跑实验，经常要连实验室的服务器，靠的就是 SSH——一条加密通道，默认走 22 端口。最基础的用法：ssh 用户名@主机地址，输一次密码就进去了。但每次输密码很烦，我们来配免密登录，三步：第一步 ssh-keygen 在本机生成一对密钥，私钥留在本机，千万不能外传；第二步 ssh-copy-id 把公钥装到服务器上；第三步再 ssh，直接进去，不要密码。原理就像锁和钥匙：公钥是挂在服务器上的锁，谁都能看见；私钥是你口袋里的钥匙，唯一能开锁。顺手记两个技能：scp 可以在本机和服务器之间传文件；在 ~/.ssh/config 里给服务器起个别名，以后敲 ssh lab 一下就上去了。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连上服务器以后，总不能一直用 vim 写代码吧？VS Code 的远程开发就是为此而生的。架构很清楚：代码和文件、编译运行、调试器、集成终端，全部跑在远端 Linux 上；你本地的 VS Code 只负责界面展示，中间走 Remote 协议，只传界面和操作——体验上和本地开发毫无区别。两个官方扩展：连本机 WSL 用 WSL 扩展，连远程服务器用 Remote-SSH。三个亮点：左下角绿色按钮一键连接，状态栏会显示远端名字；远端装上 C/C++ 扩展，跳转、补全、格式化全都有；远端起的 Web 服务会自动端口转发，本地浏览器打开 localhost 就能访问。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现在回答今天的核心问题：main.c 是怎么变成能运行的程序的？四步。第一步预处理，展开所有 #include 和宏，生成 main.i；第二步编译，把 C 代码翻译成汇编 main.s；第三步汇编，把汇编变成机器码 main.o——它已经是二进制了，但还不能运行；第四步链接，链接器把 main.o 和库函数、启动代码拼在一起，才得到可执行文件 hello，敲 ./hello，由操作系统加载执行。日常不用手动走这四步，一条 gcc 全搞定。两个参数建议养成习惯：-Wall 打开所有警告，很多 bug 编译期就能抓出来；-g 生成调试信息，没有它 gdb 只能看到地址看不到代码。g++ 用来编译 C++。文件一多，手敲命令就不现实了——下一页，CMake 登场。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CMake 解决的问题是：用声明的方式描述「这个项目要构建什么」。使用前先安装：在 WSL 和 Ubuntu 里，一条 sudo apt install cmake 就装好了，敲 cmake --version 能看到版本号就说明就绪；其他平台的同学，去官网 cmake.org 下载安装包即可。左边的 CMakeLists.txt 一共就几行：声明项目名 hello、定 C++17 标准、告诉它可执行文件 hello 由 main.cpp 和 utils.cpp 两个源文件生成。以后加源文件就加一行，换平台也不用改。构建是固定的两步：cmake -B build 在 build 目录里生成构建系统；cmake --build build 真正开始编译；然后 ./build/hello 运行，输出 Hello, Operating System!。最大的好处：所有构建产物都隔离在 build 目录里，弄脏了直接删掉重建，源码目录永远干净。VS Code、CLion、Visual Studio 都原生认 CMake，课程作业和科研项目基本都用它。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程序跑不对怎么办？printf 大法当然可以，但专业的做法是用调试器。左边是 VS Code 里的四个核心操作：按 F9 在行号旁边打断点；按 F5 启动调试，程序跑到断点就停下来；这时把鼠标悬停在变量上就能看值，也可以加到 Watch 面板持续监视；Call Stack 调用栈会告诉你当前函数是被谁调用的，定位问题特别有用。右边是同一件事在 gdb 里的样子：break main 打断点，run 运行，next 单步，print total 看变量。你会发现 VS Code 的调试面板本质就是给 gdb 套了一层图形界面，启动配置存在 .vscode/launch.json 里。建议大家课后把示例故意改出一个越界错误，用断点抓一次，体会一下调试的效率。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回顾今天的四条主线。一，操作系统是硬件和应用之间的中间人，进程、内存、文件是它管理一切的三大抽象；二，终端是窗口、Shell 是翻译官，小命令加管道与重定向就是最高效的工作流；三，WSL 和 SSH 打破了机器的边界，任何电脑上都能获得一致的 Linux 环境；四，gcc、CMake、gdb 加 VS Code Remote，构成了从写代码到调试的完整工具链。课后任务只有一个：按第 10 页或第 11 页，任选一种方式装好 WSL，把 CMake 那个小项目亲手跑通，遇到问题随时来问。下节课，我们带着这个环境开始写第一份作业。谢谢大家！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954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87552" y="1078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课程讲义 · 开发环境入门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操作系统与开发环境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B9C2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从「代码如何在操作系统中运行」出发，掌握本地与远程两种开发流程，跑通你的第一个 C/C++ 项目。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232A3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033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81912" y="3703320"/>
            <a:ext cx="777240" cy="420624"/>
          </a:xfrm>
          <a:prstGeom prst="roundRect">
            <a:avLst>
              <a:gd name="adj" fmla="val 21739"/>
            </a:avLst>
          </a:prstGeom>
          <a:solidFill>
            <a:srgbClr val="232A38"/>
          </a:solidFill>
          <a:ln/>
        </p:spPr>
      </p:sp>
      <p:sp>
        <p:nvSpPr>
          <p:cNvPr id="10" name="Text 8"/>
          <p:cNvSpPr/>
          <p:nvPr/>
        </p:nvSpPr>
        <p:spPr>
          <a:xfrm>
            <a:off x="1581912" y="3703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23744" y="3703320"/>
            <a:ext cx="777240" cy="420624"/>
          </a:xfrm>
          <a:prstGeom prst="roundRect">
            <a:avLst>
              <a:gd name="adj" fmla="val 21739"/>
            </a:avLst>
          </a:prstGeom>
          <a:solidFill>
            <a:srgbClr val="232A38"/>
          </a:solidFill>
          <a:ln/>
        </p:spPr>
      </p:sp>
      <p:sp>
        <p:nvSpPr>
          <p:cNvPr id="12" name="Text 10"/>
          <p:cNvSpPr/>
          <p:nvPr/>
        </p:nvSpPr>
        <p:spPr>
          <a:xfrm>
            <a:off x="2523744" y="3703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65576" y="3703320"/>
            <a:ext cx="1188720" cy="420624"/>
          </a:xfrm>
          <a:prstGeom prst="roundRect">
            <a:avLst>
              <a:gd name="adj" fmla="val 21739"/>
            </a:avLst>
          </a:prstGeom>
          <a:solidFill>
            <a:srgbClr val="23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3465576" y="3703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18888" y="3703320"/>
            <a:ext cx="1600200" cy="420624"/>
          </a:xfrm>
          <a:prstGeom prst="roundRect">
            <a:avLst>
              <a:gd name="adj" fmla="val 21739"/>
            </a:avLst>
          </a:prstGeom>
          <a:solidFill>
            <a:srgbClr val="232A38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3703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C/C++ 工具链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1655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4306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刘昕雨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9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为后续课程学习、项目实践与科研打下基础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1920240"/>
            <a:ext cx="4434840" cy="2697480"/>
          </a:xfrm>
          <a:prstGeom prst="roundRect">
            <a:avLst>
              <a:gd name="adj" fmla="val 2373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24928" y="20391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7598664" y="20391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20391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19751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 @ ubuntu — bash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88936" y="2286000"/>
            <a:ext cx="39959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-sr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6.8.0-51-generic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"代码是如何运行的？"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代码是如何运行的？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本讲路线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四个部分，一条主线：让代码跑起来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目标：理解操作系统的角色，掌握本地（WSL）与远程（SSH）两种开发流程，最终跑通一个 C/C++ 项目。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78608" cy="29718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1762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操作系统基础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13232" y="3255264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 · 内存 · 文件；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内核、终端与 Shell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各司其职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81528" y="3401568"/>
            <a:ext cx="228600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920240"/>
            <a:ext cx="2578608" cy="29718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1762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上手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11880" y="3255264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两种安装方式；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文件、权限、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管道与重定向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3401568"/>
            <a:ext cx="228600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54496" y="1920240"/>
            <a:ext cx="2578608" cy="29718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0528" y="21762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10528" y="28346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远程开发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10528" y="3255264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免密登录；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Remote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本地界面 + 远端环境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78824" y="3401568"/>
            <a:ext cx="228600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53144" y="1920240"/>
            <a:ext cx="2578608" cy="29718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09176" y="21762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409176" y="283464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工具链实战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409176" y="3255264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gcc / g++ 编译；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CMake 构建；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gdb · VS Code 调试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25780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贯穿案例：一个 C/C++ 小项目，从写代码、编译构建到调试运行。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Agent：会自己动手的 AI 程序员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CEFF3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接收任务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2064" y="19842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用自然语言描述需求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32304" y="1938528"/>
            <a:ext cx="292608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探索理解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98064" y="19842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读代码库 · 查文档 · 敲命令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1938528"/>
            <a:ext cx="292608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动手修改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84064" y="19842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编辑文件 · 执行构建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4304" y="1938528"/>
            <a:ext cx="292608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CE9D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运行验证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70064" y="19842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 · 看结果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75320" y="2395728"/>
            <a:ext cx="0" cy="219456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703320" y="2615184"/>
            <a:ext cx="4572000" cy="0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03320" y="2395728"/>
            <a:ext cx="0" cy="219456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4617720" y="2468880"/>
            <a:ext cx="2743200" cy="292608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验证未通过 → 继续调整，直到完成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补全式 AI · Autocomplete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360273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你敲代码，它猜下一行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一次只帮一句，节奏由你掌控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代表：IDE 里的自动补全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36792" y="30175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95420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92824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式 AI · Coding Agent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1112" y="360273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你说需求，它规划并完成整个任务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自己读代码、跑命令、改错、验证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代表：Claude Code · Cursor · 通义灵码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29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和本课的关系：Coding Agent 干活的场所，正是终端、Shell、SSH 与 VS Code —— 环境用得越熟，AI 队友越能干。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 Coding Agent：按形态分三类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3872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75564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CLI 型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4944" y="21214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" y="2487168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4871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Code（Anthropic）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2999232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992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CLI（OpenAI）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" y="3511296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35112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CLI（Google）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416966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跑在你的 shell 里，直接读写文件、执行命令——和本课环境最贴近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1554480"/>
            <a:ext cx="353872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62856" y="175564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IDE 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62856" y="21214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AI-native 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62856" y="2487168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24871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62856" y="2999232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4562856" y="29992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62856" y="36576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整个编辑器为 AI 重造，对话、补全、重构一体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93024" y="1554480"/>
            <a:ext cx="353872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175564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编辑器插件型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430768" y="212140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Plugin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30768" y="2487168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248716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Copilot（微软）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30768" y="2999232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28" name="Text 26"/>
          <p:cNvSpPr/>
          <p:nvPr/>
        </p:nvSpPr>
        <p:spPr>
          <a:xfrm>
            <a:off x="8430768" y="299923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通义灵码（阿里）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30768" y="3511296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ECEFF3"/>
          </a:solidFill>
          <a:ln/>
        </p:spPr>
      </p:sp>
      <p:sp>
        <p:nvSpPr>
          <p:cNvPr id="30" name="Text 28"/>
          <p:cNvSpPr/>
          <p:nvPr/>
        </p:nvSpPr>
        <p:spPr>
          <a:xfrm>
            <a:off x="8430768" y="35112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CodeBuddy（腾讯）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30768" y="416966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装进现有 VS Code / JetBrains，保留熟悉的开发习惯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50840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注：三类形态正在融合——Claude Code 也有 IDE 插件，Copilot 也推出了 CLI 模式。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431536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43153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共同点：都要通过终端命令、文件读写与编译工具链来干活——这正是本课打的地基。课程演示以终端 CLI 型为主。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操作系统基础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操作系统：硬件与应用之间的「中间人」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1790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0" y="151790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 · 鼠标 · 你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3774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应用程序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23774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· VS Code · 你写的程序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36976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23697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系统调用接口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323697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/ read / write / fork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96512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9651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操作系统内核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409651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E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进程调度 · 内存管理 · 文件系统 · 驱动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956048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95604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495604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· 内存 · 磁盘 · 网卡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1517904"/>
            <a:ext cx="5193792" cy="1481328"/>
          </a:xfrm>
          <a:prstGeom prst="roundRect">
            <a:avLst>
              <a:gd name="adj" fmla="val 4938"/>
            </a:avLst>
          </a:prstGeom>
          <a:solidFill>
            <a:srgbClr val="FCE9DF"/>
          </a:solidFill>
          <a:ln w="12700">
            <a:solidFill>
              <a:srgbClr val="FCE9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007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 = 资源管家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812280" y="206654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3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向上为应用程序提供服务，向下管理 CPU、内存与设备。你写的每一行代码，最终都由它调度执行。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374136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73552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内核态 vs 用户态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3584448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内核运行在特权级；应用只能通过系统调用请求服务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4270248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16966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并发与隔离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4480560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每个进程拥有独立地址空间，互相不可见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5166360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506577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一切皆文件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12280" y="5376672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设备、管道、目录都抽象为文件，接口统一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操作系统基础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内核的三件大事：进程、内存、文件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1170432" cy="365760"/>
          </a:xfrm>
          <a:prstGeom prst="roundRect">
            <a:avLst>
              <a:gd name="adj" fmla="val 15000"/>
            </a:avLst>
          </a:prstGeom>
          <a:solidFill>
            <a:srgbClr val="1E24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程序的一次运行实例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内核负责创建、调度与回收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每个进程拥有独立地址空间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时间被快速切换分摊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3154680" cy="1005840"/>
          </a:xfrm>
          <a:prstGeom prst="roundRect">
            <a:avLst>
              <a:gd name="adj" fmla="val 636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4873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984" y="4873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4873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809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05256" y="512064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536" y="14630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62856" y="1755648"/>
            <a:ext cx="1170432" cy="365760"/>
          </a:xfrm>
          <a:prstGeom prst="roundRect">
            <a:avLst>
              <a:gd name="adj" fmla="val 15000"/>
            </a:avLst>
          </a:prstGeom>
          <a:solidFill>
            <a:srgbClr val="1E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17556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2856" y="22677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62856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代码与数据的运行场所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81144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虚拟内存提供隔离与保护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每个进程看到独占的地址空间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不足时与磁盘交换（swap）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17136" y="4754880"/>
            <a:ext cx="3154680" cy="1005840"/>
          </a:xfrm>
          <a:prstGeom prst="roundRect">
            <a:avLst>
              <a:gd name="adj" fmla="val 636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72584" y="4873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4873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0056" y="4873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4809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512064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19872" y="14630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1755648"/>
            <a:ext cx="1170432" cy="365760"/>
          </a:xfrm>
          <a:prstGeom prst="roundRect">
            <a:avLst>
              <a:gd name="adj" fmla="val 15000"/>
            </a:avLst>
          </a:prstGeom>
          <a:solidFill>
            <a:srgbClr val="1E2430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17556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94192" y="22677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94192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「一切皆文件」的抽象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31546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普通文件、设备、管道皆有路径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由文件系统统一管理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权限模型保护数据安全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48472" y="4754880"/>
            <a:ext cx="3154680" cy="1005840"/>
          </a:xfrm>
          <a:prstGeom prst="roundRect">
            <a:avLst>
              <a:gd name="adj" fmla="val 636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03920" y="487375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6" name="Shape 34"/>
          <p:cNvSpPr/>
          <p:nvPr/>
        </p:nvSpPr>
        <p:spPr>
          <a:xfrm>
            <a:off x="8677656" y="487375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7" name="Shape 35"/>
          <p:cNvSpPr/>
          <p:nvPr/>
        </p:nvSpPr>
        <p:spPr>
          <a:xfrm>
            <a:off x="8851392" y="487375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8" name="Text 36"/>
          <p:cNvSpPr/>
          <p:nvPr/>
        </p:nvSpPr>
        <p:spPr>
          <a:xfrm>
            <a:off x="9079992" y="4809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67928" y="512064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main.c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操作系统基础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内核、终端与 Shell：一条命令的旅程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键盘输入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32304" y="1938528"/>
            <a:ext cx="292608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Terminal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 · 字符界面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1938528"/>
            <a:ext cx="292608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95420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E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· zsh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4304" y="1938528"/>
            <a:ext cx="292608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Kernel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真正执行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90304" y="1938528"/>
            <a:ext cx="292608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1481328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609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· 内存 · 磁盘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3008376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Terminal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341071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人与机器交互的界面：接收输入、显示输出。可以是图形窗口（如 Windows Terminal），也可以是纯字符终端。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88536" y="2788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44568" y="3008376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Shell（命令解释器）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44568" y="341071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读取一行命令，解析后调用内核执行；支持变量、脚本与管道。bash 是 Linux 默认，zsh / fish 也很流行。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9872" y="2788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75904" y="3008376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Kernel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75904" y="341071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操作系统的核心，直接管理硬件。应用程序不能直接访问硬件，必须通过系统调用请内核代劳。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5138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 Shell：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0" y="5138928"/>
            <a:ext cx="914400" cy="384048"/>
          </a:xfrm>
          <a:prstGeom prst="roundRect">
            <a:avLst>
              <a:gd name="adj" fmla="val 21429"/>
            </a:avLst>
          </a:prstGeom>
          <a:solidFill>
            <a:srgbClr val="ECEFF3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0" y="5138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89504" y="5138928"/>
            <a:ext cx="822960" cy="384048"/>
          </a:xfrm>
          <a:prstGeom prst="roundRect">
            <a:avLst>
              <a:gd name="adj" fmla="val 21429"/>
            </a:avLst>
          </a:prstGeom>
          <a:solidFill>
            <a:srgbClr val="ECEFF3"/>
          </a:solidFill>
          <a:ln/>
        </p:spPr>
      </p:sp>
      <p:sp>
        <p:nvSpPr>
          <p:cNvPr id="36" name="Text 34"/>
          <p:cNvSpPr/>
          <p:nvPr/>
        </p:nvSpPr>
        <p:spPr>
          <a:xfrm>
            <a:off x="2889504" y="51389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58768" y="5138928"/>
            <a:ext cx="822960" cy="384048"/>
          </a:xfrm>
          <a:prstGeom prst="roundRect">
            <a:avLst>
              <a:gd name="adj" fmla="val 21429"/>
            </a:avLst>
          </a:prstGeom>
          <a:solidFill>
            <a:srgbClr val="ECEFF3"/>
          </a:solidFill>
          <a:ln/>
        </p:spPr>
      </p:sp>
      <p:sp>
        <p:nvSpPr>
          <p:cNvPr id="38" name="Text 36"/>
          <p:cNvSpPr/>
          <p:nvPr/>
        </p:nvSpPr>
        <p:spPr>
          <a:xfrm>
            <a:off x="3858768" y="51389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28032" y="5138928"/>
            <a:ext cx="1371600" cy="384048"/>
          </a:xfrm>
          <a:prstGeom prst="roundRect">
            <a:avLst>
              <a:gd name="adj" fmla="val 21429"/>
            </a:avLst>
          </a:prstGeom>
          <a:solidFill>
            <a:srgbClr val="ECEFF3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5138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91656" y="5138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课程环境默认 bash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5806440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一句话：终端是「窗口」，Shell 是「翻译官」，内核是「干活的人」。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三大主流系统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· macOS · Ubuntu：怎么选？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macOS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D9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Ubuntu（Linux）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内核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XNU（Darwin）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Linux 内核（开源）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图形桌面，生态最广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图形精致，类 Unix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GNOME / 纯命令行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开发体验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 WSL 后很完善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 Unix 工具链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服务器与开源标配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安装软件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应用商店 / .exe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 Store / .dmg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apt 一条命令搞定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常见场景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 · 游戏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iOS/Mac 开发 · 设计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 · 课程 · 科研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30368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CE9DF"/>
          </a:solidFill>
          <a:ln w="12700">
            <a:solidFill>
              <a:srgbClr val="FCE9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3949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本课程的选择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423160" y="532180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作业、实验服务器与科研环境以 Linux 为主 —— Windows 通过 WSL、macOS 自带终端，都能获得一致的开发体验。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WSL：在 Windows 里运行真正的 Linux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264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5875">
            <a:solidFill>
              <a:srgbClr val="1E2430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你的电脑（一台机器 · 两个世界）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938528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ECEFF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· 浏览器 · VS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94560" y="3072384"/>
            <a:ext cx="0" cy="384048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3072384"/>
            <a:ext cx="0" cy="384048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87168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文件互通 · 剪贴板共享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547872"/>
            <a:ext cx="5486400" cy="1810512"/>
          </a:xfrm>
          <a:prstGeom prst="roundRect">
            <a:avLst>
              <a:gd name="adj" fmla="val 3030"/>
            </a:avLst>
          </a:prstGeom>
          <a:solidFill>
            <a:srgbClr val="1E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2 轻量虚拟机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4005072"/>
            <a:ext cx="4937760" cy="512064"/>
          </a:xfrm>
          <a:prstGeom prst="roundRect">
            <a:avLst>
              <a:gd name="adj" fmla="val 8929"/>
            </a:avLst>
          </a:prstGeom>
          <a:solidFill>
            <a:srgbClr val="E95420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0050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内核（微软官方维护）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4608576"/>
            <a:ext cx="4937760" cy="603504"/>
          </a:xfrm>
          <a:prstGeom prst="roundRect">
            <a:avLst>
              <a:gd name="adj" fmla="val 7576"/>
            </a:avLst>
          </a:prstGeom>
          <a:solidFill>
            <a:srgbClr val="2B324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6085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用户态 — bash · apt · gcc · cmake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48640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ECEFF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共享硬件：CPU · 内存 · 磁盘 · 网络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1691640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59105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无需双系统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190195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不分区、不重启，像启动一个普通应用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286207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7614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 Linux 内核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307238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2 兼容性接近原生，Docker 也能直接跑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4032504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931920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Windows 无缝互通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0" y="424281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互访文件（/mnt/c、\\wsl$），VS Code 直接编辑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5230368"/>
            <a:ext cx="4873752" cy="777240"/>
          </a:xfrm>
          <a:prstGeom prst="roundRect">
            <a:avLst>
              <a:gd name="adj" fmla="val 9412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52303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用户：系统自带类 Unix 终端，本讲多数命令可直接使用。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WSL · 方法一：一条命令搞定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536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WSL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6537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PowerShell 运行 wsl --install，完成后重启电脑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6883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Ubuntu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首次启动设置用户名与密码（sudo 密码）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安装工具链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1696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apt 安装 build-essential / gdb / cmake / git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974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49926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VS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3218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WSL 扩展，在项目目录运行 code . 打开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1481328"/>
            <a:ext cx="6839712" cy="4526280"/>
          </a:xfrm>
          <a:prstGeom prst="roundRect">
            <a:avLst>
              <a:gd name="adj" fmla="val 141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4748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522122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536192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 → Ubuntu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11496" y="1847088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管理员 PowerShell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wsl --install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正在安装: Ubuntu 24.04 LTS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重启后首次进入 Ubuntu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new UNIX username: vince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安装编译工具链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-y build-essential gdb cmake git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在项目目录启动 VS Code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~/projects &amp;&amp; cd ~/projects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code 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正在启动 VS Code（WSL: Ubuntu-24.04）...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WSL · 方法二：Microsoft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536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Windows 功能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6537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「启用或关闭 Windows 功能」勾选两项：适用于 Linux 的 Windows 子系统、虚拟机平台，然后重启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6883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商店搜索 Ubuntu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Microsoft Store，搜索 Ubuntu 24.04 LTS，点「获取」安装，就像装普通应用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首次启动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16966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从开始菜单打开 Ubuntu，设置用户名与密码（sudo 密码）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974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49926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更新与检查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3218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--update 更新内核；wsl -l -v 查看已装的发行版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1481328"/>
            <a:ext cx="683971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56632" y="1609344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C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5056632" y="16093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Store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1609344"/>
            <a:ext cx="2880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C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1609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搜索应用、游戏和影片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0" y="16093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24.04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76088" y="2231136"/>
            <a:ext cx="566928" cy="566928"/>
          </a:xfrm>
          <a:prstGeom prst="ellipse">
            <a:avLst/>
          </a:prstGeom>
          <a:solidFill>
            <a:srgbClr val="E95420"/>
          </a:solidFill>
          <a:ln/>
        </p:spPr>
      </p:sp>
      <p:sp>
        <p:nvSpPr>
          <p:cNvPr id="23" name="Text 21"/>
          <p:cNvSpPr/>
          <p:nvPr/>
        </p:nvSpPr>
        <p:spPr>
          <a:xfrm>
            <a:off x="5276088" y="2231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2194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24.04 LTS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523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· 效率 · 开发者工具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61320" y="2267712"/>
            <a:ext cx="960120" cy="402336"/>
          </a:xfrm>
          <a:prstGeom prst="roundRect">
            <a:avLst>
              <a:gd name="adj" fmla="val 18182"/>
            </a:avLst>
          </a:prstGeom>
          <a:solidFill>
            <a:srgbClr val="E9542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1320" y="226771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76088" y="29443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安装完成后，从「开始」菜单启动 Ubuntu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92040" y="3456432"/>
            <a:ext cx="6839712" cy="2852928"/>
          </a:xfrm>
          <a:prstGeom prst="roundRect">
            <a:avLst>
              <a:gd name="adj" fmla="val 224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47488" y="3575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9"/>
          <p:cNvSpPr/>
          <p:nvPr/>
        </p:nvSpPr>
        <p:spPr>
          <a:xfrm>
            <a:off x="5221224" y="3575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30"/>
          <p:cNvSpPr/>
          <p:nvPr/>
        </p:nvSpPr>
        <p:spPr>
          <a:xfrm>
            <a:off x="5394960" y="3575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3511296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PowerShell（管理员）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11496" y="3822192"/>
            <a:ext cx="640080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功能也可以用命令启用（与勾选二选一）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dism /online /enable-feature `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/featurename:Microsoft-Windows-Subsystem-Linux `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/all /norestart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dism /online /enable-feature `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/featurename:VirtualMachinePlatform /all /norestart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重启并安装 Ubuntu 后，检查结果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wsl -l -v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STATE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Ubuntu-24.04      Stopped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文件系统：一切从根 / 开始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72200" cy="4526280"/>
          </a:xfrm>
          <a:prstGeom prst="roundRect">
            <a:avLst>
              <a:gd name="adj" fmla="val 141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3619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vince@ubuntu: ~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847088"/>
            <a:ext cx="573328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tree -L 2 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bin -&gt; usr/bin    # 可执行程序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home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vince         # 你的主目录 ~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etc               # 系统配置文件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usr               # 软件与头文件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var               # 日志等可变数据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tmp               # 临时文件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691640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591056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一棵树，没有盘符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90195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整个文件系统从根目录 / 开始，没有 C 盘 D 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0" y="2660904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2560320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主目录 ~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8712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/home/vince，登录后的落脚点，存放你的项目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3630168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3529584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绝对路径与相对路径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38404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/usr/bin 是绝对路径；. 是当前目录，.. 是上级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459943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449884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Windows 文件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480974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磁盘挂载在 /mnt/c 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5486400"/>
            <a:ext cx="48737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55595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  /home/vince/notes.txt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C:\Users\vince\notes.txt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文件管理：高频命令速查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5989320" cy="362102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列出目录内容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 -lh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切换目录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~/projects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复制文件或目录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cp a.txt b.txt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 · 重命名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mv b.txt docs/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删除（无回收站）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rm -rf build/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mkdir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77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新建目录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A84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mkdir -p a/b/c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5989320" cy="658368"/>
          </a:xfrm>
          <a:prstGeom prst="roundRect">
            <a:avLst>
              <a:gd name="adj" fmla="val 11111"/>
            </a:avLst>
          </a:prstGeom>
          <a:solidFill>
            <a:srgbClr val="FCE9DF"/>
          </a:solidFill>
          <a:ln w="12700">
            <a:solidFill>
              <a:srgbClr val="FCE9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53492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2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没有回收站 —— 删除即永久，慎用 -rf。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20840" y="1481328"/>
            <a:ext cx="5010912" cy="4526280"/>
          </a:xfrm>
          <a:prstGeom prst="roundRect">
            <a:avLst>
              <a:gd name="adj" fmla="val 141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7628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705002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722376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53619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40296" y="1847088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demo &amp;&amp; cd demo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/etc/hostname 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hostname host.txt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-rw-r--r-- 1 vince vince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13 Oct 26 host.txt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递归复制整个目录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-r ../lab1 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文件权限：rwx 与 chmod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50876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50876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0876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44752"/>
            <a:ext cx="9811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755648"/>
            <a:ext cx="10835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note.txt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-rw-r--r-- 1 vince vince 348 Oct 26 10:24 note.txt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E243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" y="36027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目录 · - 文件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07008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E95420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755648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E95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75564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304288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E95420"/>
          </a:solidFill>
          <a:ln/>
        </p:spPr>
      </p:sp>
      <p:sp>
        <p:nvSpPr>
          <p:cNvPr id="19" name="Text 17"/>
          <p:cNvSpPr/>
          <p:nvPr/>
        </p:nvSpPr>
        <p:spPr>
          <a:xfrm>
            <a:off x="230428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07008" y="33467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所有者 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07008" y="36027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文件属于谁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E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3282696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31336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E2430"/>
          </a:solidFill>
          <a:ln/>
        </p:spPr>
      </p:sp>
      <p:sp>
        <p:nvSpPr>
          <p:cNvPr id="25" name="Text 23"/>
          <p:cNvSpPr/>
          <p:nvPr/>
        </p:nvSpPr>
        <p:spPr>
          <a:xfrm>
            <a:off x="3831336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379976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E2430"/>
          </a:solidFill>
          <a:ln/>
        </p:spPr>
      </p:sp>
      <p:sp>
        <p:nvSpPr>
          <p:cNvPr id="27" name="Text 25"/>
          <p:cNvSpPr/>
          <p:nvPr/>
        </p:nvSpPr>
        <p:spPr>
          <a:xfrm>
            <a:off x="4379976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82696" y="33467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所属组 group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82696" y="36027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同组用户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58384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B3240"/>
          </a:solidFill>
          <a:ln/>
        </p:spPr>
      </p:sp>
      <p:sp>
        <p:nvSpPr>
          <p:cNvPr id="31" name="Text 29"/>
          <p:cNvSpPr/>
          <p:nvPr/>
        </p:nvSpPr>
        <p:spPr>
          <a:xfrm>
            <a:off x="5358384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07024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B3240"/>
          </a:solidFill>
          <a:ln/>
        </p:spPr>
      </p:sp>
      <p:sp>
        <p:nvSpPr>
          <p:cNvPr id="33" name="Text 31"/>
          <p:cNvSpPr/>
          <p:nvPr/>
        </p:nvSpPr>
        <p:spPr>
          <a:xfrm>
            <a:off x="5907024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455664" y="27432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B3240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58384" y="33467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其他人 other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58384" y="36027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其余所有人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272491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CEFF3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02752" y="27249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read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863840" y="312724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CEFF3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02752" y="31272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write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63840" y="352958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CEFF3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02752" y="35295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execute（目录：能否进入）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55229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3232" y="4325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字母法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713232" y="4690872"/>
            <a:ext cx="2834640" cy="749808"/>
          </a:xfrm>
          <a:prstGeom prst="roundRect">
            <a:avLst>
              <a:gd name="adj" fmla="val 6098"/>
            </a:avLst>
          </a:prstGeom>
          <a:solidFill>
            <a:srgbClr val="0D1117"/>
          </a:solidFill>
          <a:ln/>
        </p:spPr>
      </p:sp>
      <p:sp>
        <p:nvSpPr>
          <p:cNvPr id="50" name="Text 48"/>
          <p:cNvSpPr/>
          <p:nvPr/>
        </p:nvSpPr>
        <p:spPr>
          <a:xfrm>
            <a:off x="877824" y="476402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run.sh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g-w note.txt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749040" y="46634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给所有用户增加执行权限；u/g/o 对应三类用户，+/-/= 增减权限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08776" y="4160520"/>
            <a:ext cx="55229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64808" y="4325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数字法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6464808" y="4690872"/>
            <a:ext cx="2834640" cy="749808"/>
          </a:xfrm>
          <a:prstGeom prst="roundRect">
            <a:avLst>
              <a:gd name="adj" fmla="val 6098"/>
            </a:avLst>
          </a:prstGeom>
          <a:solidFill>
            <a:srgbClr val="0D1117"/>
          </a:solidFill>
          <a:ln/>
        </p:spPr>
      </p:sp>
      <p:sp>
        <p:nvSpPr>
          <p:cNvPr id="55" name="Text 53"/>
          <p:cNvSpPr/>
          <p:nvPr/>
        </p:nvSpPr>
        <p:spPr>
          <a:xfrm>
            <a:off x="6629400" y="476402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644 note.txt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A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r=4  w=2  x=1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500616" y="46634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644 = rw- r-- r--：所有者可读写，组与其他人只读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LINUX 上手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管道与重定向：让命令协同工作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access.log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691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"404"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1691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2084832"/>
            <a:ext cx="365760" cy="0"/>
          </a:xfrm>
          <a:prstGeom prst="line">
            <a:avLst/>
          </a:prstGeom>
          <a:noFill/>
          <a:ln w="28575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49240" y="2084832"/>
            <a:ext cx="365760" cy="0"/>
          </a:xfrm>
          <a:prstGeom prst="line">
            <a:avLst/>
          </a:prstGeom>
          <a:noFill/>
          <a:ln w="28575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770632" y="17373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30952" y="17373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1051560" cy="777240"/>
          </a:xfrm>
          <a:prstGeom prst="roundRect">
            <a:avLst>
              <a:gd name="adj" fmla="val 8235"/>
            </a:avLst>
          </a:prstGeom>
          <a:solidFill>
            <a:srgbClr val="FCE9DF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6916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60920" y="2084832"/>
            <a:ext cx="274320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040880" y="2487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 | ：把左侧命令的输出，接到右侧命令的输入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18320" y="169164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1E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941832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result.txt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78240" y="2084832"/>
            <a:ext cx="594360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0" y="24871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重定向：结果存入文件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4944" y="4005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覆盖写入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4944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"ok" &gt; out.txt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9272" y="3291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57016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57016" y="4005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追加写入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557016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"ok" &gt;&gt; log.txt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81344" y="3291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19088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19088" y="4005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从文件读入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19088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&lt; data.txt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43416" y="32918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8116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281160" y="4005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错误重定向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81160" y="4352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main.c 2&gt; err.txt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2578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257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Unix 哲学：每个命令只做好一件小事，用管道把它们组合成强大的工具链。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远程开发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SSH：安全地连接远程服务器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你的电脑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· VS Code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95728" y="2057400"/>
            <a:ext cx="1371600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headEnd type="triangl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12848" y="1664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加密通道 · TCP 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远程服务器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20482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 · 云主机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配置免密登录（公钥认证）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166420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ssh-keygen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生成密钥对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39696" y="3639312"/>
            <a:ext cx="73152" cy="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31136" y="3218688"/>
            <a:ext cx="166420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2576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ssh-copy-id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22576" y="36758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上传公钥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13632" y="3639312"/>
            <a:ext cx="73152" cy="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05072" y="3218688"/>
            <a:ext cx="1664208" cy="841248"/>
          </a:xfrm>
          <a:prstGeom prst="roundRect">
            <a:avLst>
              <a:gd name="adj" fmla="val 7609"/>
            </a:avLst>
          </a:prstGeom>
          <a:solidFill>
            <a:srgbClr val="FCE9DF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ssh user@host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96512" y="36758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免密登录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私钥留在本机，公钥发给服务器；之后登录、Git 推送都不再需要密码。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992624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10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传文件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737360" y="4910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note.txt user@host:~/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65099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68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别名登录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737360" y="5568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~/.ssh/config 配置 Host lab → ssh lab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1481328"/>
            <a:ext cx="5742432" cy="4526280"/>
          </a:xfrm>
          <a:prstGeom prst="roundRect">
            <a:avLst>
              <a:gd name="adj" fmla="val 1414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3" name="Shape 31"/>
          <p:cNvSpPr/>
          <p:nvPr/>
        </p:nvSpPr>
        <p:spPr>
          <a:xfrm>
            <a:off x="631850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153619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08776" y="1847088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ssh-keygen -t ed25519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public/private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ed25519 key pair.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ssh-copy-id vince@192.168.1.10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vince@192.168.1.10's password: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vince@192.168.1.10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Ubuntu 24.04 LTS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vince@lab-server:~$ whoami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之后登录不再需要密码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远程开发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Code：本地界面，远程开发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本地电脑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CEF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· macOS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界面与插件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 · 屏幕 · 网络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2624328"/>
            <a:ext cx="1234440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86200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Remote 协议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27889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只传输界面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572768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430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783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 Linux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21284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代码与文件 · 编译运行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调试器 · 集成终端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全部跑在远端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1572768"/>
            <a:ext cx="24963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91472" y="1792224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7" name="Text 15"/>
          <p:cNvSpPr/>
          <p:nvPr/>
        </p:nvSpPr>
        <p:spPr>
          <a:xfrm>
            <a:off x="9710928" y="17007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扩展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10928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连接本机 Ubuntu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688336"/>
            <a:ext cx="249631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91472" y="290779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1" name="Text 19"/>
          <p:cNvSpPr/>
          <p:nvPr/>
        </p:nvSpPr>
        <p:spPr>
          <a:xfrm>
            <a:off x="9710928" y="2816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Remote - SSH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10928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连接远程服务器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42885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一键连接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469087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左下角绿色按钮 → Connect to WSL / Connect to Host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88536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44568" y="42885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像本地一样编辑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469087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远端安装 C/C++ 扩展，即可跳转、补全、格式化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4069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75904" y="42885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端口转发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75904" y="4690872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远端 Web 服务自动映射到 localhost，浏览器直接访问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工具链实战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main.c 到可执行文件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#include 与宏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2304288"/>
            <a:ext cx="219456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61488" y="1572768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44368" y="2048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23957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翻译为汇编代码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18888" y="2304288"/>
            <a:ext cx="219456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1572768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48656" y="2048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48656" y="23957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生成机器码目标文件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23176" y="2304288"/>
            <a:ext cx="219456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0064" y="1572768"/>
            <a:ext cx="2011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52944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52944" y="2048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52944" y="23957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连接库与启动代码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27464" y="2304288"/>
            <a:ext cx="219456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92640" y="1572768"/>
            <a:ext cx="2039112" cy="1481328"/>
          </a:xfrm>
          <a:prstGeom prst="roundRect">
            <a:avLst>
              <a:gd name="adj" fmla="val 4938"/>
            </a:avLst>
          </a:prstGeom>
          <a:solidFill>
            <a:srgbClr val="E95420"/>
          </a:solidFill>
          <a:ln/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0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875520" y="2048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E3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E3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由操作系统加载执行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54896" y="2304288"/>
            <a:ext cx="201168" cy="0"/>
          </a:xfrm>
          <a:prstGeom prst="line">
            <a:avLst/>
          </a:prstGeom>
          <a:noFill/>
          <a:ln w="25400">
            <a:solidFill>
              <a:srgbClr val="E9542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3429000"/>
            <a:ext cx="6309360" cy="2148840"/>
          </a:xfrm>
          <a:prstGeom prst="roundRect">
            <a:avLst>
              <a:gd name="adj" fmla="val 2979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" y="354787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" y="354787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" y="354787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34838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6656" y="3794760"/>
            <a:ext cx="5870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-Wall -g main.c -o hello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./hello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Operating System!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040880" y="3511296"/>
            <a:ext cx="128016" cy="128016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36" name="Text 34"/>
          <p:cNvSpPr/>
          <p:nvPr/>
        </p:nvSpPr>
        <p:spPr>
          <a:xfrm>
            <a:off x="7296912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-Wall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1540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打开所有警告，尽早暴露问题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040880" y="4078224"/>
            <a:ext cx="128016" cy="128016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39" name="Text 37"/>
          <p:cNvSpPr/>
          <p:nvPr/>
        </p:nvSpPr>
        <p:spPr>
          <a:xfrm>
            <a:off x="7296912" y="3995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915400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生成调试信息，供 gdb 使用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40880" y="4645152"/>
            <a:ext cx="128016" cy="128016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2" name="Text 40"/>
          <p:cNvSpPr/>
          <p:nvPr/>
        </p:nvSpPr>
        <p:spPr>
          <a:xfrm>
            <a:off x="7296912" y="4562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/ g++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915400" y="4562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g++ 编译 C++，会链接 C++ 标准库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040880" y="5212080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45" name="Text 43"/>
          <p:cNvSpPr/>
          <p:nvPr/>
        </p:nvSpPr>
        <p:spPr>
          <a:xfrm>
            <a:off x="7296912" y="5129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多文件项目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915400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手动编译难以维护 → 下一页：CMake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工具链实战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CMake：声明式地描述你的项目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943600" cy="3108960"/>
          </a:xfrm>
          <a:prstGeom prst="roundRect">
            <a:avLst>
              <a:gd name="adj" fmla="val 2059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CMakeLists.txt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" y="1847088"/>
            <a:ext cx="55046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cmake_minimum_required(VERSION 3.16)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project(hello CXX)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使用 C++17 标准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set(CMAKE_CXX_STANDARD 17)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目标：由两个源文件生成 hello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add_executable(hello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main.cpp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utils.cpp)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828032"/>
            <a:ext cx="2880360" cy="1481328"/>
          </a:xfrm>
          <a:prstGeom prst="roundRect">
            <a:avLst>
              <a:gd name="adj" fmla="val 4938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4956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CMake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5285232"/>
            <a:ext cx="2441448" cy="566928"/>
          </a:xfrm>
          <a:prstGeom prst="roundRect">
            <a:avLst>
              <a:gd name="adj" fmla="val 8065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5340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cmake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--version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590702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/ WSL 用 apt；其他平台从 cmake.org 下载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4828032"/>
            <a:ext cx="2880360" cy="1481328"/>
          </a:xfrm>
          <a:prstGeom prst="roundRect">
            <a:avLst>
              <a:gd name="adj" fmla="val 4938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 CMake？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9896" y="5303520"/>
            <a:ext cx="2441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单文件敲 gcc 就够；多文件、跨平台的项目需要声明「构建什么」，VS Code、CLion 都原生支持。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481328"/>
            <a:ext cx="5102352" cy="1554480"/>
          </a:xfrm>
          <a:prstGeom prst="roundRect">
            <a:avLst>
              <a:gd name="adj" fmla="val 4118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95858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536192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hello/ — 项目结构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48856" y="18470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hello/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CMakeLists.txt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main.cpp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utils.cpp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5102352" cy="2331720"/>
          </a:xfrm>
          <a:prstGeom prst="roundRect">
            <a:avLst>
              <a:gd name="adj" fmla="val 2745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84848" y="331927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58584" y="331927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331927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25526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48856" y="35661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-B build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Generating done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--build build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[100%] Linking hello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./build/hello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Operating System!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566928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两步构建：先配置（生成 Makefile），再编译。build/ 目录可以随时删掉重建。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工具链实战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调试：让程序停下来，看清每一步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813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 Breakpoint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点击行号左侧即可设置；程序运行到该行自动暂停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4920" y="1517904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CEFF3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5179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启动与单步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继续运行、逐过程跳过函数、逐语句进入函数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4920" y="2596896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CEFF3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5968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· F10 · F11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39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变量与监视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39867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悬停即可查看值；Watch 面板持续跟踪表达式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3675888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C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675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18888"/>
            <a:ext cx="128016" cy="128016"/>
          </a:xfrm>
          <a:prstGeom prst="rect">
            <a:avLst/>
          </a:prstGeom>
          <a:solidFill>
            <a:srgbClr val="E9542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183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调用栈 Call Stack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506577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看清「谁调用了当前函数」，快速定位问题来源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74920" y="4754880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CEFF3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754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1481328"/>
            <a:ext cx="5056632" cy="4206240"/>
          </a:xfrm>
          <a:prstGeom prst="roundRect">
            <a:avLst>
              <a:gd name="adj" fmla="val 1522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0568" y="160020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7004304" y="16002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160020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53619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gdb ./hello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94576" y="1847088"/>
            <a:ext cx="4617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break main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 1 at 0x11a9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run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program: ./hello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next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print total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 = 42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backtrace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  main () at main.cpp:9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870448"/>
            <a:ext cx="11274552" cy="621792"/>
          </a:xfrm>
          <a:prstGeom prst="roundRect">
            <a:avLst>
              <a:gd name="adj" fmla="val 11765"/>
            </a:avLst>
          </a:prstGeom>
          <a:solidFill>
            <a:srgbClr val="ECEFF3"/>
          </a:solidFill>
          <a:ln w="12700">
            <a:solidFill>
              <a:srgbClr val="ECEF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87044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的调试面板，本质是给 gdb 套上了图形界面 —— 启动配置保存在 .vscode/launch.json。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954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本讲小结 · 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代码是如何运行的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2121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操作系统是中间人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645920" y="2468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 · 内存 · 文件，代码运行的一切基础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3054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终端与 Shell 是入口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45920" y="34015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小命令 + 管道与重定向 = 高效工作流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684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39867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与 SSH 打破边界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645920" y="43342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任何机器上都能获得一致的 Linux 环境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011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49194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工具链一以贯之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45920" y="52669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gcc · CMake · gdb · VS Code Remote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2103120"/>
            <a:ext cx="4114800" cy="2377440"/>
          </a:xfrm>
          <a:prstGeom prst="roundRect">
            <a:avLst>
              <a:gd name="adj" fmla="val 2692"/>
            </a:avLst>
          </a:prstGeom>
          <a:solidFill>
            <a:srgbClr val="0D1117"/>
          </a:solidFill>
          <a:ln w="12700">
            <a:solidFill>
              <a:srgbClr val="262C36"/>
            </a:solidFill>
            <a:prstDash val="solid"/>
          </a:ln>
          <a:effectLst>
            <a:outerShdw blurRad="101600" dist="25400" dir="5400000" algn="bl" rotWithShape="0">
              <a:srgbClr val="0B0F16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44968" y="22219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7918704" y="22219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22219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157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vince@ubuntu: ~/projects/hello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08976" y="2468880"/>
            <a:ext cx="36758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--build build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./build/hello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Operating System!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4709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BA5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下一步：装好 WSL，跑通你的第一个 CMake 项目。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3810</Words>
  <Application>Microsoft Office PowerPoint</Application>
  <PresentationFormat>宽屏</PresentationFormat>
  <Paragraphs>596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操作系统与开发环境</dc:title>
  <dc:subject>PptxGenJS Presentation</dc:subject>
  <dc:creator>刘昕雨</dc:creator>
  <cp:lastModifiedBy>William L</cp:lastModifiedBy>
  <cp:revision>2</cp:revision>
  <dcterms:created xsi:type="dcterms:W3CDTF">2026-10-28T02:34:41Z</dcterms:created>
  <dcterms:modified xsi:type="dcterms:W3CDTF">2026-10-28T02:56:00Z</dcterms:modified>
</cp:coreProperties>
</file>